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3" d="100"/>
          <a:sy n="93" d="100"/>
        </p:scale>
        <p:origin x="274" y="-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FOB</c:v>
                </c:pt>
              </c:strCache>
            </c:strRef>
          </c:tx>
          <c:spPr>
            <a:solidFill>
              <a:srgbClr val="00A7A5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N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EE.UU.</c:v>
                </c:pt>
                <c:pt idx="1">
                  <c:v>España</c:v>
                </c:pt>
                <c:pt idx="2">
                  <c:v>México</c:v>
                </c:pt>
                <c:pt idx="3">
                  <c:v>Guatemala</c:v>
                </c:pt>
                <c:pt idx="4">
                  <c:v>Costa 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168745</c:v>
                </c:pt>
                <c:pt idx="1">
                  <c:v>136328</c:v>
                </c:pt>
                <c:pt idx="2">
                  <c:v>120313</c:v>
                </c:pt>
                <c:pt idx="3">
                  <c:v>119335</c:v>
                </c:pt>
                <c:pt idx="4">
                  <c:v>113544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AC-4FF8-B29D-0889BF20EA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2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0000"/>
          <c:min val="0"/>
        </c:scaling>
        <c:delete val="0"/>
        <c:axPos val="l"/>
        <c:majorGridlines>
          <c:spPr>
            <a:ln w="12700" cap="flat">
              <a:solidFill>
                <a:srgbClr val="E6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FOB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3B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E6E-4597-B87E-A0375CFF6E46}"/>
              </c:ext>
            </c:extLst>
          </c:dPt>
          <c:dPt>
            <c:idx val="1"/>
            <c:bubble3D val="0"/>
            <c:spPr>
              <a:solidFill>
                <a:srgbClr val="00A7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6E-4597-B87E-A0375CFF6E46}"/>
              </c:ext>
            </c:extLst>
          </c:dPt>
          <c:dPt>
            <c:idx val="2"/>
            <c:bubble3D val="0"/>
            <c:spPr>
              <a:solidFill>
                <a:srgbClr val="D9A7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E6E-4597-B87E-A0375CFF6E4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NI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E6E-4597-B87E-A0375CFF6E4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NI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E6E-4597-B87E-A0375CFF6E4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NI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E6E-4597-B87E-A0375CFF6E4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NI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Norteamérica</c:v>
                </c:pt>
                <c:pt idx="1">
                  <c:v>Centroamérica</c:v>
                </c:pt>
                <c:pt idx="2">
                  <c:v>Europa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289058</c:v>
                </c:pt>
                <c:pt idx="1">
                  <c:v>232879</c:v>
                </c:pt>
                <c:pt idx="2">
                  <c:v>136328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E6E-4597-B87E-A0375CFF6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3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Utilidad</c:v>
                </c:pt>
              </c:strCache>
            </c:strRef>
          </c:tx>
          <c:spPr>
            <a:solidFill>
              <a:srgbClr val="2B9A66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N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Café especial</c:v>
                </c:pt>
                <c:pt idx="1">
                  <c:v>Aceite de ajonjolí</c:v>
                </c:pt>
                <c:pt idx="2">
                  <c:v>Miel natural</c:v>
                </c:pt>
                <c:pt idx="3">
                  <c:v>Cacao en grano</c:v>
                </c:pt>
                <c:pt idx="4">
                  <c:v>Maní procesado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62832</c:v>
                </c:pt>
                <c:pt idx="1">
                  <c:v>42218</c:v>
                </c:pt>
                <c:pt idx="2">
                  <c:v>38688</c:v>
                </c:pt>
                <c:pt idx="3">
                  <c:v>36800</c:v>
                </c:pt>
                <c:pt idx="4">
                  <c:v>33534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C0-45C1-ADA8-59F9515415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00"/>
          <c:min val="0"/>
        </c:scaling>
        <c:delete val="0"/>
        <c:axPos val="l"/>
        <c:majorGridlines>
          <c:spPr>
            <a:ln w="12700" cap="flat">
              <a:solidFill>
                <a:srgbClr val="E6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4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Estado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E33-47B6-95B8-9B0EC191F3FE}"/>
              </c:ext>
            </c:extLst>
          </c:dPt>
          <c:dPt>
            <c:idx val="1"/>
            <c:bubble3D val="0"/>
            <c:spPr>
              <a:solidFill>
                <a:srgbClr val="2E69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33-47B6-95B8-9B0EC191F3FE}"/>
              </c:ext>
            </c:extLst>
          </c:dPt>
          <c:dPt>
            <c:idx val="2"/>
            <c:bubble3D val="0"/>
            <c:spPr>
              <a:solidFill>
                <a:srgbClr val="E58A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E33-47B6-95B8-9B0EC191F3F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NI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33-47B6-95B8-9B0EC191F3F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NI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E33-47B6-95B8-9B0EC191F3F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NI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E33-47B6-95B8-9B0EC191F3F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NI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Entregado</c:v>
                </c:pt>
                <c:pt idx="1">
                  <c:v>Embarcado</c:v>
                </c:pt>
                <c:pt idx="2">
                  <c:v>Pendiente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36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E33-47B6-95B8-9B0EC191F3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Operaciones</c:v>
                </c:pt>
              </c:strCache>
            </c:strRef>
          </c:tx>
          <c:spPr>
            <a:solidFill>
              <a:srgbClr val="D9A7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N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Alta</c:v>
                </c:pt>
                <c:pt idx="1">
                  <c:v>Media</c:v>
                </c:pt>
                <c:pt idx="2">
                  <c:v>Baja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46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49-4B63-94B1-5C456164E5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2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12700" cap="flat">
              <a:solidFill>
                <a:srgbClr val="E6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30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3B5B"/>
          </a:solidFill>
          <a:ln w="12700">
            <a:solidFill>
              <a:srgbClr val="123B5B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675120"/>
            <a:ext cx="25603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675120"/>
            <a:ext cx="25603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23B5B"/>
          </a:solidFill>
          <a:ln w="12700">
            <a:solidFill>
              <a:srgbClr val="123B5B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7571232" y="0"/>
            <a:ext cx="246888" cy="6858000"/>
          </a:xfrm>
          <a:prstGeom prst="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pic>
        <p:nvPicPr>
          <p:cNvPr id="4" name="Image 0" descr="/mnt/data/8108dd6b-f3aa-4902-a5c8-5b700bcc93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66928"/>
            <a:ext cx="2176272" cy="2176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2798064"/>
            <a:ext cx="6172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 DE INFORMACIÓN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2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EMPRESARIAL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68096" y="40050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00A7A5"/>
                </a:solidFill>
              </a:rPr>
              <a:t>NicaExport Trading, S.A.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768096" y="449884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87785"/>
                </a:solidFill>
              </a:rPr>
              <a:t>Tecnologías de Gestión de Información · Grupo 7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275320" y="1078992"/>
            <a:ext cx="3255264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</a:rPr>
              <a:t>Presentación de resultados basada en el análisis de 100 operaciones registradas durante 2026.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275320" y="2889504"/>
            <a:ext cx="2304288" cy="0"/>
          </a:xfrm>
          <a:prstGeom prst="line">
            <a:avLst/>
          </a:prstGeom>
          <a:noFill/>
          <a:ln w="38100">
            <a:solidFill>
              <a:srgbClr val="16B7B1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0" name="Text 7"/>
          <p:cNvSpPr/>
          <p:nvPr/>
        </p:nvSpPr>
        <p:spPr>
          <a:xfrm>
            <a:off x="8275320" y="4114800"/>
            <a:ext cx="3154680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</a:rPr>
              <a:t>Estudiante: Octavio José Arana Sánchez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</a:rPr>
              <a:t>Carnet: 24011742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</a:rPr>
              <a:t>Docente: César David Marín López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</a:rPr>
              <a:t>Septiembre 2026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768096" y="627278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687785"/>
                </a:solidFill>
              </a:rPr>
              <a:t>UNIVERSIDAD AMERICANA (UAM)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datos y tratamiento de la información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652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87785"/>
                </a:solidFill>
              </a:rPr>
              <a:t>Estructura utilizada para organizar, calcular y resumir los registros de NicaExport Trading.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09960" cy="0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pic>
        <p:nvPicPr>
          <p:cNvPr id="5" name="Image 0" descr="/mnt/data/8108dd6b-f3aa-4902-a5c8-5b700bcc9342.png"/>
          <p:cNvPicPr>
            <a:picLocks noChangeAspect="1"/>
          </p:cNvPicPr>
          <p:nvPr/>
        </p:nvPicPr>
        <p:blipFill>
          <a:blip r:embed="rId3">
            <a:alphaModFix amt="98000"/>
          </a:blip>
          <a:stretch>
            <a:fillRect/>
          </a:stretch>
        </p:blipFill>
        <p:spPr>
          <a:xfrm>
            <a:off x="11338560" y="18288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2588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blurRad="12700" dist="50800" dir="2700000" algn="bl" rotWithShape="0">
              <a:srgbClr val="C5D2D8">
                <a:alpha val="16000"/>
              </a:srgbClr>
            </a:outerShdw>
          </a:effectLst>
        </p:spPr>
        <p:txBody>
          <a:bodyPr/>
          <a:lstStyle/>
          <a:p>
            <a:endParaRPr lang="es-NI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73152" cy="1097280"/>
          </a:xfrm>
          <a:prstGeom prst="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5"/>
          <p:cNvSpPr/>
          <p:nvPr/>
        </p:nvSpPr>
        <p:spPr>
          <a:xfrm>
            <a:off x="685800" y="1463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87785"/>
                </a:solidFill>
              </a:rPr>
              <a:t>OPERACIONES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685800" y="17099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23B5B"/>
                </a:solidFill>
              </a:rPr>
              <a:t>100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685800" y="21671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87785"/>
                </a:solidFill>
              </a:rPr>
              <a:t>Registros analizados</a:t>
            </a:r>
            <a:endParaRPr lang="en-US" sz="810" dirty="0"/>
          </a:p>
        </p:txBody>
      </p:sp>
      <p:sp>
        <p:nvSpPr>
          <p:cNvPr id="11" name="Shape 8"/>
          <p:cNvSpPr/>
          <p:nvPr/>
        </p:nvSpPr>
        <p:spPr>
          <a:xfrm>
            <a:off x="3063240" y="132588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blurRad="12700" dist="50800" dir="2700000" algn="bl" rotWithShape="0">
              <a:srgbClr val="C5D2D8">
                <a:alpha val="16000"/>
              </a:srgbClr>
            </a:outerShdw>
          </a:effectLst>
        </p:spPr>
        <p:txBody>
          <a:bodyPr/>
          <a:lstStyle/>
          <a:p>
            <a:endParaRPr lang="es-NI"/>
          </a:p>
        </p:txBody>
      </p:sp>
      <p:sp>
        <p:nvSpPr>
          <p:cNvPr id="12" name="Shape 9"/>
          <p:cNvSpPr/>
          <p:nvPr/>
        </p:nvSpPr>
        <p:spPr>
          <a:xfrm>
            <a:off x="3063240" y="1325880"/>
            <a:ext cx="73152" cy="1097280"/>
          </a:xfrm>
          <a:prstGeom prst="rect">
            <a:avLst/>
          </a:prstGeom>
          <a:solidFill>
            <a:srgbClr val="2E69B7"/>
          </a:solidFill>
          <a:ln w="12700">
            <a:solidFill>
              <a:srgbClr val="2E69B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3" name="Text 10"/>
          <p:cNvSpPr/>
          <p:nvPr/>
        </p:nvSpPr>
        <p:spPr>
          <a:xfrm>
            <a:off x="3246120" y="1463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87785"/>
                </a:solidFill>
              </a:rPr>
              <a:t>PAÍSES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3246120" y="17099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23B5B"/>
                </a:solidFill>
              </a:rPr>
              <a:t>5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3246120" y="21671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87785"/>
                </a:solidFill>
              </a:rPr>
              <a:t>Mercados destino</a:t>
            </a:r>
            <a:endParaRPr lang="en-US" sz="810" dirty="0"/>
          </a:p>
        </p:txBody>
      </p:sp>
      <p:sp>
        <p:nvSpPr>
          <p:cNvPr id="16" name="Shape 13"/>
          <p:cNvSpPr/>
          <p:nvPr/>
        </p:nvSpPr>
        <p:spPr>
          <a:xfrm>
            <a:off x="5623560" y="132588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blurRad="12700" dist="50800" dir="2700000" algn="bl" rotWithShape="0">
              <a:srgbClr val="C5D2D8">
                <a:alpha val="16000"/>
              </a:srgbClr>
            </a:outerShdw>
          </a:effectLst>
        </p:spPr>
        <p:txBody>
          <a:bodyPr/>
          <a:lstStyle/>
          <a:p>
            <a:endParaRPr lang="es-NI"/>
          </a:p>
        </p:txBody>
      </p:sp>
      <p:sp>
        <p:nvSpPr>
          <p:cNvPr id="17" name="Shape 14"/>
          <p:cNvSpPr/>
          <p:nvPr/>
        </p:nvSpPr>
        <p:spPr>
          <a:xfrm>
            <a:off x="5623560" y="1325880"/>
            <a:ext cx="73152" cy="1097280"/>
          </a:xfrm>
          <a:prstGeom prst="rect">
            <a:avLst/>
          </a:prstGeom>
          <a:solidFill>
            <a:srgbClr val="D9A735"/>
          </a:solidFill>
          <a:ln w="12700">
            <a:solidFill>
              <a:srgbClr val="D9A735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8" name="Text 15"/>
          <p:cNvSpPr/>
          <p:nvPr/>
        </p:nvSpPr>
        <p:spPr>
          <a:xfrm>
            <a:off x="5806440" y="1463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87785"/>
                </a:solidFill>
              </a:rPr>
              <a:t>PRODUCTOS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5806440" y="17099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23B5B"/>
                </a:solidFill>
              </a:rPr>
              <a:t>5</a:t>
            </a:r>
            <a:endParaRPr lang="en-US" sz="2050" dirty="0"/>
          </a:p>
        </p:txBody>
      </p:sp>
      <p:sp>
        <p:nvSpPr>
          <p:cNvPr id="20" name="Text 17"/>
          <p:cNvSpPr/>
          <p:nvPr/>
        </p:nvSpPr>
        <p:spPr>
          <a:xfrm>
            <a:off x="5806440" y="21671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87785"/>
                </a:solidFill>
              </a:rPr>
              <a:t>Portafolio exportador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8183880" y="132588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blurRad="12700" dist="50800" dir="2700000" algn="bl" rotWithShape="0">
              <a:srgbClr val="C5D2D8">
                <a:alpha val="16000"/>
              </a:srgbClr>
            </a:outerShdw>
          </a:effectLst>
        </p:spPr>
        <p:txBody>
          <a:bodyPr/>
          <a:lstStyle/>
          <a:p>
            <a:endParaRPr lang="es-NI"/>
          </a:p>
        </p:txBody>
      </p:sp>
      <p:sp>
        <p:nvSpPr>
          <p:cNvPr id="22" name="Shape 19"/>
          <p:cNvSpPr/>
          <p:nvPr/>
        </p:nvSpPr>
        <p:spPr>
          <a:xfrm>
            <a:off x="8183880" y="1325880"/>
            <a:ext cx="73152" cy="109728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3" name="Text 20"/>
          <p:cNvSpPr/>
          <p:nvPr/>
        </p:nvSpPr>
        <p:spPr>
          <a:xfrm>
            <a:off x="8366760" y="1463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87785"/>
                </a:solidFill>
              </a:rPr>
              <a:t>CLIENTES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8366760" y="17099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23B5B"/>
                </a:solidFill>
              </a:rPr>
              <a:t>5</a:t>
            </a:r>
            <a:endParaRPr lang="en-US" sz="2050" dirty="0"/>
          </a:p>
        </p:txBody>
      </p:sp>
      <p:sp>
        <p:nvSpPr>
          <p:cNvPr id="25" name="Text 22"/>
          <p:cNvSpPr/>
          <p:nvPr/>
        </p:nvSpPr>
        <p:spPr>
          <a:xfrm>
            <a:off x="8366760" y="21671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87785"/>
                </a:solidFill>
              </a:rPr>
              <a:t>Clientes internacionales</a:t>
            </a:r>
            <a:endParaRPr lang="en-US" sz="810" dirty="0"/>
          </a:p>
        </p:txBody>
      </p:sp>
      <p:sp>
        <p:nvSpPr>
          <p:cNvPr id="26" name="Text 23"/>
          <p:cNvSpPr/>
          <p:nvPr/>
        </p:nvSpPr>
        <p:spPr>
          <a:xfrm>
            <a:off x="502920" y="27980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B"/>
                </a:solidFill>
              </a:rPr>
              <a:t>Variables principales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02920" y="3246120"/>
            <a:ext cx="1965960" cy="1115568"/>
          </a:xfrm>
          <a:prstGeom prst="roundRect">
            <a:avLst>
              <a:gd name="adj" fmla="val 4098"/>
            </a:avLst>
          </a:prstGeom>
          <a:solidFill>
            <a:srgbClr val="E9F7F6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8" name="Text 25"/>
          <p:cNvSpPr/>
          <p:nvPr/>
        </p:nvSpPr>
        <p:spPr>
          <a:xfrm>
            <a:off x="612648" y="345643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23B5B"/>
                </a:solidFill>
              </a:rPr>
              <a:t>Operación</a:t>
            </a:r>
            <a:endParaRPr lang="en-US" sz="1140" dirty="0"/>
          </a:p>
        </p:txBody>
      </p:sp>
      <p:sp>
        <p:nvSpPr>
          <p:cNvPr id="29" name="Text 26"/>
          <p:cNvSpPr/>
          <p:nvPr/>
        </p:nvSpPr>
        <p:spPr>
          <a:xfrm>
            <a:off x="649224" y="379476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173042"/>
                </a:solidFill>
              </a:rPr>
              <a:t>ID, fecha y estado</a:t>
            </a:r>
            <a:endParaRPr lang="en-US" sz="890" dirty="0"/>
          </a:p>
        </p:txBody>
      </p:sp>
      <p:sp>
        <p:nvSpPr>
          <p:cNvPr id="30" name="Shape 27"/>
          <p:cNvSpPr/>
          <p:nvPr/>
        </p:nvSpPr>
        <p:spPr>
          <a:xfrm>
            <a:off x="2761488" y="3246120"/>
            <a:ext cx="1965960" cy="1115568"/>
          </a:xfrm>
          <a:prstGeom prst="roundRect">
            <a:avLst>
              <a:gd name="adj" fmla="val 4098"/>
            </a:avLst>
          </a:prstGeom>
          <a:solidFill>
            <a:srgbClr val="EDF3F7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1" name="Text 28"/>
          <p:cNvSpPr/>
          <p:nvPr/>
        </p:nvSpPr>
        <p:spPr>
          <a:xfrm>
            <a:off x="2871216" y="345643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23B5B"/>
                </a:solidFill>
              </a:rPr>
              <a:t>Cliente</a:t>
            </a:r>
            <a:endParaRPr lang="en-US" sz="1140" dirty="0"/>
          </a:p>
        </p:txBody>
      </p:sp>
      <p:sp>
        <p:nvSpPr>
          <p:cNvPr id="32" name="Text 29"/>
          <p:cNvSpPr/>
          <p:nvPr/>
        </p:nvSpPr>
        <p:spPr>
          <a:xfrm>
            <a:off x="2907792" y="379476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173042"/>
                </a:solidFill>
              </a:rPr>
              <a:t>Nombre del comprador</a:t>
            </a:r>
            <a:endParaRPr lang="en-US" sz="890" dirty="0"/>
          </a:p>
        </p:txBody>
      </p:sp>
      <p:sp>
        <p:nvSpPr>
          <p:cNvPr id="33" name="Shape 30"/>
          <p:cNvSpPr/>
          <p:nvPr/>
        </p:nvSpPr>
        <p:spPr>
          <a:xfrm>
            <a:off x="5020056" y="3246120"/>
            <a:ext cx="1965960" cy="1115568"/>
          </a:xfrm>
          <a:prstGeom prst="roundRect">
            <a:avLst>
              <a:gd name="adj" fmla="val 4098"/>
            </a:avLst>
          </a:prstGeom>
          <a:solidFill>
            <a:srgbClr val="E9F7F6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4" name="Text 31"/>
          <p:cNvSpPr/>
          <p:nvPr/>
        </p:nvSpPr>
        <p:spPr>
          <a:xfrm>
            <a:off x="5129784" y="345643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23B5B"/>
                </a:solidFill>
              </a:rPr>
              <a:t>Mercado</a:t>
            </a:r>
            <a:endParaRPr lang="en-US" sz="1140" dirty="0"/>
          </a:p>
        </p:txBody>
      </p:sp>
      <p:sp>
        <p:nvSpPr>
          <p:cNvPr id="35" name="Text 32"/>
          <p:cNvSpPr/>
          <p:nvPr/>
        </p:nvSpPr>
        <p:spPr>
          <a:xfrm>
            <a:off x="5166360" y="379476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173042"/>
                </a:solidFill>
              </a:rPr>
              <a:t>País, región y arancel</a:t>
            </a:r>
            <a:endParaRPr lang="en-US" sz="890" dirty="0"/>
          </a:p>
        </p:txBody>
      </p:sp>
      <p:sp>
        <p:nvSpPr>
          <p:cNvPr id="36" name="Shape 33"/>
          <p:cNvSpPr/>
          <p:nvPr/>
        </p:nvSpPr>
        <p:spPr>
          <a:xfrm>
            <a:off x="7278624" y="3246120"/>
            <a:ext cx="1965960" cy="1115568"/>
          </a:xfrm>
          <a:prstGeom prst="roundRect">
            <a:avLst>
              <a:gd name="adj" fmla="val 4098"/>
            </a:avLst>
          </a:prstGeom>
          <a:solidFill>
            <a:srgbClr val="EDF3F7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7" name="Text 34"/>
          <p:cNvSpPr/>
          <p:nvPr/>
        </p:nvSpPr>
        <p:spPr>
          <a:xfrm>
            <a:off x="7388352" y="345643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23B5B"/>
                </a:solidFill>
              </a:rPr>
              <a:t>Producto</a:t>
            </a:r>
            <a:endParaRPr lang="en-US" sz="1140" dirty="0"/>
          </a:p>
        </p:txBody>
      </p:sp>
      <p:sp>
        <p:nvSpPr>
          <p:cNvPr id="38" name="Text 35"/>
          <p:cNvSpPr/>
          <p:nvPr/>
        </p:nvSpPr>
        <p:spPr>
          <a:xfrm>
            <a:off x="7424928" y="379476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173042"/>
                </a:solidFill>
              </a:rPr>
              <a:t>Código, categoría y unidades</a:t>
            </a:r>
            <a:endParaRPr lang="en-US" sz="890" dirty="0"/>
          </a:p>
        </p:txBody>
      </p:sp>
      <p:sp>
        <p:nvSpPr>
          <p:cNvPr id="39" name="Shape 36"/>
          <p:cNvSpPr/>
          <p:nvPr/>
        </p:nvSpPr>
        <p:spPr>
          <a:xfrm>
            <a:off x="9537192" y="3246120"/>
            <a:ext cx="1965960" cy="1115568"/>
          </a:xfrm>
          <a:prstGeom prst="roundRect">
            <a:avLst>
              <a:gd name="adj" fmla="val 4098"/>
            </a:avLst>
          </a:prstGeom>
          <a:solidFill>
            <a:srgbClr val="E9F7F6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0" name="Text 37"/>
          <p:cNvSpPr/>
          <p:nvPr/>
        </p:nvSpPr>
        <p:spPr>
          <a:xfrm>
            <a:off x="9646920" y="345643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23B5B"/>
                </a:solidFill>
              </a:rPr>
              <a:t>Finanzas</a:t>
            </a:r>
            <a:endParaRPr lang="en-US" sz="1140" dirty="0"/>
          </a:p>
        </p:txBody>
      </p:sp>
      <p:sp>
        <p:nvSpPr>
          <p:cNvPr id="41" name="Text 38"/>
          <p:cNvSpPr/>
          <p:nvPr/>
        </p:nvSpPr>
        <p:spPr>
          <a:xfrm>
            <a:off x="9683496" y="379476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173042"/>
                </a:solidFill>
              </a:rPr>
              <a:t>FOB, costo, utilidad y margen</a:t>
            </a:r>
            <a:endParaRPr lang="en-US" sz="890" dirty="0"/>
          </a:p>
        </p:txBody>
      </p:sp>
      <p:sp>
        <p:nvSpPr>
          <p:cNvPr id="42" name="Text 39"/>
          <p:cNvSpPr/>
          <p:nvPr/>
        </p:nvSpPr>
        <p:spPr>
          <a:xfrm>
            <a:off x="502920" y="4754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B"/>
                </a:solidFill>
              </a:rPr>
              <a:t>Funciones aplicadas en Excel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502920" y="5230368"/>
            <a:ext cx="19659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4" name="Text 41"/>
          <p:cNvSpPr/>
          <p:nvPr/>
        </p:nvSpPr>
        <p:spPr>
          <a:xfrm>
            <a:off x="576072" y="539496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0A7A5"/>
                </a:solidFill>
              </a:rPr>
              <a:t>BUSCARV</a:t>
            </a:r>
            <a:endParaRPr lang="en-US" sz="970" dirty="0"/>
          </a:p>
        </p:txBody>
      </p:sp>
      <p:sp>
        <p:nvSpPr>
          <p:cNvPr id="45" name="Shape 42"/>
          <p:cNvSpPr/>
          <p:nvPr/>
        </p:nvSpPr>
        <p:spPr>
          <a:xfrm>
            <a:off x="2761488" y="5230368"/>
            <a:ext cx="19659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6" name="Text 43"/>
          <p:cNvSpPr/>
          <p:nvPr/>
        </p:nvSpPr>
        <p:spPr>
          <a:xfrm>
            <a:off x="2834640" y="539496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0A7A5"/>
                </a:solidFill>
              </a:rPr>
              <a:t>SUMAR.SI.CONJUNTO</a:t>
            </a:r>
            <a:endParaRPr lang="en-US" sz="970" dirty="0"/>
          </a:p>
        </p:txBody>
      </p:sp>
      <p:sp>
        <p:nvSpPr>
          <p:cNvPr id="47" name="Shape 44"/>
          <p:cNvSpPr/>
          <p:nvPr/>
        </p:nvSpPr>
        <p:spPr>
          <a:xfrm>
            <a:off x="5020056" y="5230368"/>
            <a:ext cx="19659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8" name="Text 45"/>
          <p:cNvSpPr/>
          <p:nvPr/>
        </p:nvSpPr>
        <p:spPr>
          <a:xfrm>
            <a:off x="5093208" y="539496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0A7A5"/>
                </a:solidFill>
              </a:rPr>
              <a:t>CONTAR.SI.CONJUNTO</a:t>
            </a:r>
            <a:endParaRPr lang="en-US" sz="970" dirty="0"/>
          </a:p>
        </p:txBody>
      </p:sp>
      <p:sp>
        <p:nvSpPr>
          <p:cNvPr id="49" name="Shape 46"/>
          <p:cNvSpPr/>
          <p:nvPr/>
        </p:nvSpPr>
        <p:spPr>
          <a:xfrm>
            <a:off x="7278624" y="5230368"/>
            <a:ext cx="19659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0" name="Text 47"/>
          <p:cNvSpPr/>
          <p:nvPr/>
        </p:nvSpPr>
        <p:spPr>
          <a:xfrm>
            <a:off x="7351776" y="539496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0A7A5"/>
                </a:solidFill>
              </a:rPr>
              <a:t>PROMEDIO.SI.CONJUNTO</a:t>
            </a:r>
            <a:endParaRPr lang="en-US" sz="970" dirty="0"/>
          </a:p>
        </p:txBody>
      </p:sp>
      <p:sp>
        <p:nvSpPr>
          <p:cNvPr id="51" name="Shape 48"/>
          <p:cNvSpPr/>
          <p:nvPr/>
        </p:nvSpPr>
        <p:spPr>
          <a:xfrm>
            <a:off x="9537192" y="5230368"/>
            <a:ext cx="19659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2" name="Text 49"/>
          <p:cNvSpPr/>
          <p:nvPr/>
        </p:nvSpPr>
        <p:spPr>
          <a:xfrm>
            <a:off x="9610344" y="539496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0A7A5"/>
                </a:solidFill>
              </a:rPr>
              <a:t>SI / condiciones</a:t>
            </a:r>
            <a:endParaRPr lang="en-US" sz="970" dirty="0"/>
          </a:p>
        </p:txBody>
      </p:sp>
      <p:sp>
        <p:nvSpPr>
          <p:cNvPr id="53" name="Shape 50"/>
          <p:cNvSpPr/>
          <p:nvPr/>
        </p:nvSpPr>
        <p:spPr>
          <a:xfrm>
            <a:off x="502920" y="5961888"/>
            <a:ext cx="11045952" cy="420624"/>
          </a:xfrm>
          <a:prstGeom prst="roundRect">
            <a:avLst>
              <a:gd name="adj" fmla="val 8696"/>
            </a:avLst>
          </a:prstGeom>
          <a:solidFill>
            <a:srgbClr val="123B5B"/>
          </a:solidFill>
          <a:ln w="12700">
            <a:solidFill>
              <a:srgbClr val="123B5B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4" name="Text 51"/>
          <p:cNvSpPr/>
          <p:nvPr/>
        </p:nvSpPr>
        <p:spPr>
          <a:xfrm>
            <a:off x="749808" y="6089904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</a:rPr>
              <a:t>El análisis se apoya en fórmulas, tablas dinámicas, filtros y gráficos para convertir los registros en información útil para la toma de decisiones.</a:t>
            </a:r>
            <a:endParaRPr lang="en-US" sz="1040" dirty="0"/>
          </a:p>
        </p:txBody>
      </p:sp>
      <p:sp>
        <p:nvSpPr>
          <p:cNvPr id="55" name="Text 52"/>
          <p:cNvSpPr/>
          <p:nvPr/>
        </p:nvSpPr>
        <p:spPr>
          <a:xfrm>
            <a:off x="502920" y="667512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FFFFFF"/>
                </a:solidFill>
              </a:rPr>
              <a:t>Fuente: Analisis_Comercio_Internacional_NicaExport.xlsx · Datos académicos 2026</a:t>
            </a:r>
            <a:endParaRPr lang="en-US" sz="76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675120"/>
            <a:ext cx="25603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ejecutivo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652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87785"/>
                </a:solidFill>
              </a:rPr>
              <a:t>Indicadores centrales del comportamiento comercial y operativo.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09960" cy="0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pic>
        <p:nvPicPr>
          <p:cNvPr id="5" name="Image 0" descr="/mnt/data/8108dd6b-f3aa-4902-a5c8-5b700bcc9342.png"/>
          <p:cNvPicPr>
            <a:picLocks noChangeAspect="1"/>
          </p:cNvPicPr>
          <p:nvPr/>
        </p:nvPicPr>
        <p:blipFill>
          <a:blip r:embed="rId3">
            <a:alphaModFix amt="98000"/>
          </a:blip>
          <a:stretch>
            <a:fillRect/>
          </a:stretch>
        </p:blipFill>
        <p:spPr>
          <a:xfrm>
            <a:off x="11338560" y="18288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2588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blurRad="12700" dist="50800" dir="2700000" algn="bl" rotWithShape="0">
              <a:srgbClr val="C5D2D8">
                <a:alpha val="16000"/>
              </a:srgbClr>
            </a:outerShdw>
          </a:effectLst>
        </p:spPr>
        <p:txBody>
          <a:bodyPr/>
          <a:lstStyle/>
          <a:p>
            <a:endParaRPr lang="es-NI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73152" cy="1188720"/>
          </a:xfrm>
          <a:prstGeom prst="rect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5"/>
          <p:cNvSpPr/>
          <p:nvPr/>
        </p:nvSpPr>
        <p:spPr>
          <a:xfrm>
            <a:off x="68580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87785"/>
                </a:solidFill>
              </a:rPr>
              <a:t>Valor FOB total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685800" y="17099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23B5B"/>
                </a:solidFill>
              </a:rPr>
              <a:t>US$658,265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685800" y="22585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87785"/>
                </a:solidFill>
              </a:rPr>
              <a:t>100 operaciones</a:t>
            </a:r>
            <a:endParaRPr lang="en-US" sz="810" dirty="0"/>
          </a:p>
        </p:txBody>
      </p:sp>
      <p:sp>
        <p:nvSpPr>
          <p:cNvPr id="11" name="Shape 8"/>
          <p:cNvSpPr/>
          <p:nvPr/>
        </p:nvSpPr>
        <p:spPr>
          <a:xfrm>
            <a:off x="2743200" y="132588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blurRad="12700" dist="50800" dir="2700000" algn="bl" rotWithShape="0">
              <a:srgbClr val="C5D2D8">
                <a:alpha val="16000"/>
              </a:srgbClr>
            </a:outerShdw>
          </a:effectLst>
        </p:spPr>
        <p:txBody>
          <a:bodyPr/>
          <a:lstStyle/>
          <a:p>
            <a:endParaRPr lang="es-NI"/>
          </a:p>
        </p:txBody>
      </p:sp>
      <p:sp>
        <p:nvSpPr>
          <p:cNvPr id="12" name="Shape 9"/>
          <p:cNvSpPr/>
          <p:nvPr/>
        </p:nvSpPr>
        <p:spPr>
          <a:xfrm>
            <a:off x="2743200" y="1325880"/>
            <a:ext cx="73152" cy="118872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3" name="Text 10"/>
          <p:cNvSpPr/>
          <p:nvPr/>
        </p:nvSpPr>
        <p:spPr>
          <a:xfrm>
            <a:off x="292608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87785"/>
                </a:solidFill>
              </a:rPr>
              <a:t>Utilidad total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2926080" y="17099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23B5B"/>
                </a:solidFill>
              </a:rPr>
              <a:t>US$214,072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2926080" y="22585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87785"/>
                </a:solidFill>
              </a:rPr>
              <a:t>Margen global ≈ 32.5%</a:t>
            </a:r>
            <a:endParaRPr lang="en-US" sz="810" dirty="0"/>
          </a:p>
        </p:txBody>
      </p:sp>
      <p:sp>
        <p:nvSpPr>
          <p:cNvPr id="16" name="Shape 13"/>
          <p:cNvSpPr/>
          <p:nvPr/>
        </p:nvSpPr>
        <p:spPr>
          <a:xfrm>
            <a:off x="4983480" y="132588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blurRad="12700" dist="50800" dir="2700000" algn="bl" rotWithShape="0">
              <a:srgbClr val="C5D2D8">
                <a:alpha val="16000"/>
              </a:srgbClr>
            </a:outerShdw>
          </a:effectLst>
        </p:spPr>
        <p:txBody>
          <a:bodyPr/>
          <a:lstStyle/>
          <a:p>
            <a:endParaRPr lang="es-NI"/>
          </a:p>
        </p:txBody>
      </p:sp>
      <p:sp>
        <p:nvSpPr>
          <p:cNvPr id="17" name="Shape 14"/>
          <p:cNvSpPr/>
          <p:nvPr/>
        </p:nvSpPr>
        <p:spPr>
          <a:xfrm>
            <a:off x="4983480" y="1325880"/>
            <a:ext cx="73152" cy="1188720"/>
          </a:xfrm>
          <a:prstGeom prst="rect">
            <a:avLst/>
          </a:prstGeom>
          <a:solidFill>
            <a:srgbClr val="2E69B7"/>
          </a:solidFill>
          <a:ln w="12700">
            <a:solidFill>
              <a:srgbClr val="2E69B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8" name="Text 15"/>
          <p:cNvSpPr/>
          <p:nvPr/>
        </p:nvSpPr>
        <p:spPr>
          <a:xfrm>
            <a:off x="516636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87785"/>
                </a:solidFill>
              </a:rPr>
              <a:t>Unidades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5166360" y="17099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23B5B"/>
                </a:solidFill>
              </a:rPr>
              <a:t>92,050</a:t>
            </a:r>
            <a:endParaRPr lang="en-US" sz="2050" dirty="0"/>
          </a:p>
        </p:txBody>
      </p:sp>
      <p:sp>
        <p:nvSpPr>
          <p:cNvPr id="20" name="Text 17"/>
          <p:cNvSpPr/>
          <p:nvPr/>
        </p:nvSpPr>
        <p:spPr>
          <a:xfrm>
            <a:off x="5166360" y="22585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87785"/>
                </a:solidFill>
              </a:rPr>
              <a:t>Volumen acumulado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7223760" y="132588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blurRad="12700" dist="50800" dir="2700000" algn="bl" rotWithShape="0">
              <a:srgbClr val="C5D2D8">
                <a:alpha val="16000"/>
              </a:srgbClr>
            </a:outerShdw>
          </a:effectLst>
        </p:spPr>
        <p:txBody>
          <a:bodyPr/>
          <a:lstStyle/>
          <a:p>
            <a:endParaRPr lang="es-NI"/>
          </a:p>
        </p:txBody>
      </p:sp>
      <p:sp>
        <p:nvSpPr>
          <p:cNvPr id="22" name="Shape 19"/>
          <p:cNvSpPr/>
          <p:nvPr/>
        </p:nvSpPr>
        <p:spPr>
          <a:xfrm>
            <a:off x="7223760" y="1325880"/>
            <a:ext cx="73152" cy="1188720"/>
          </a:xfrm>
          <a:prstGeom prst="rect">
            <a:avLst/>
          </a:prstGeom>
          <a:solidFill>
            <a:srgbClr val="E58A2D"/>
          </a:solidFill>
          <a:ln w="12700">
            <a:solidFill>
              <a:srgbClr val="E58A2D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3" name="Text 20"/>
          <p:cNvSpPr/>
          <p:nvPr/>
        </p:nvSpPr>
        <p:spPr>
          <a:xfrm>
            <a:off x="740664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87785"/>
                </a:solidFill>
              </a:rPr>
              <a:t>Pendientes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7406640" y="17099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23B5B"/>
                </a:solidFill>
              </a:rPr>
              <a:t>15</a:t>
            </a:r>
            <a:endParaRPr lang="en-US" sz="2050" dirty="0"/>
          </a:p>
        </p:txBody>
      </p:sp>
      <p:sp>
        <p:nvSpPr>
          <p:cNvPr id="25" name="Text 22"/>
          <p:cNvSpPr/>
          <p:nvPr/>
        </p:nvSpPr>
        <p:spPr>
          <a:xfrm>
            <a:off x="7406640" y="22585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87785"/>
                </a:solidFill>
              </a:rPr>
              <a:t>15% de operaciones</a:t>
            </a:r>
            <a:endParaRPr lang="en-US" sz="810" dirty="0"/>
          </a:p>
        </p:txBody>
      </p:sp>
      <p:sp>
        <p:nvSpPr>
          <p:cNvPr id="26" name="Shape 23"/>
          <p:cNvSpPr/>
          <p:nvPr/>
        </p:nvSpPr>
        <p:spPr>
          <a:xfrm>
            <a:off x="9464040" y="132588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blurRad="12700" dist="50800" dir="2700000" algn="bl" rotWithShape="0">
              <a:srgbClr val="C5D2D8">
                <a:alpha val="16000"/>
              </a:srgbClr>
            </a:outerShdw>
          </a:effectLst>
        </p:spPr>
        <p:txBody>
          <a:bodyPr/>
          <a:lstStyle/>
          <a:p>
            <a:endParaRPr lang="es-NI"/>
          </a:p>
        </p:txBody>
      </p:sp>
      <p:sp>
        <p:nvSpPr>
          <p:cNvPr id="27" name="Shape 24"/>
          <p:cNvSpPr/>
          <p:nvPr/>
        </p:nvSpPr>
        <p:spPr>
          <a:xfrm>
            <a:off x="9464040" y="1325880"/>
            <a:ext cx="73152" cy="1188720"/>
          </a:xfrm>
          <a:prstGeom prst="rect">
            <a:avLst/>
          </a:prstGeom>
          <a:solidFill>
            <a:srgbClr val="D9A735"/>
          </a:solidFill>
          <a:ln w="12700">
            <a:solidFill>
              <a:srgbClr val="D9A735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8" name="Text 25"/>
          <p:cNvSpPr/>
          <p:nvPr/>
        </p:nvSpPr>
        <p:spPr>
          <a:xfrm>
            <a:off x="964692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687785"/>
                </a:solidFill>
              </a:rPr>
              <a:t>Prioridad alta</a:t>
            </a:r>
            <a:endParaRPr lang="en-US" sz="960" dirty="0"/>
          </a:p>
        </p:txBody>
      </p:sp>
      <p:sp>
        <p:nvSpPr>
          <p:cNvPr id="29" name="Text 26"/>
          <p:cNvSpPr/>
          <p:nvPr/>
        </p:nvSpPr>
        <p:spPr>
          <a:xfrm>
            <a:off x="9646920" y="17099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23B5B"/>
                </a:solidFill>
              </a:rPr>
              <a:t>48</a:t>
            </a:r>
            <a:endParaRPr lang="en-US" sz="2050" dirty="0"/>
          </a:p>
        </p:txBody>
      </p:sp>
      <p:sp>
        <p:nvSpPr>
          <p:cNvPr id="30" name="Text 27"/>
          <p:cNvSpPr/>
          <p:nvPr/>
        </p:nvSpPr>
        <p:spPr>
          <a:xfrm>
            <a:off x="9646920" y="22585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687785"/>
                </a:solidFill>
              </a:rPr>
              <a:t>46 media · 6 baja</a:t>
            </a:r>
            <a:endParaRPr lang="en-US" sz="810" dirty="0"/>
          </a:p>
        </p:txBody>
      </p:sp>
      <p:sp>
        <p:nvSpPr>
          <p:cNvPr id="31" name="Text 28"/>
          <p:cNvSpPr/>
          <p:nvPr/>
        </p:nvSpPr>
        <p:spPr>
          <a:xfrm>
            <a:off x="502920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B"/>
                </a:solidFill>
              </a:rPr>
              <a:t>Lectura ejecutiva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02920" y="3310128"/>
            <a:ext cx="35295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3" name="Shape 30"/>
          <p:cNvSpPr/>
          <p:nvPr/>
        </p:nvSpPr>
        <p:spPr>
          <a:xfrm>
            <a:off x="640080" y="3456432"/>
            <a:ext cx="219456" cy="219456"/>
          </a:xfrm>
          <a:prstGeom prst="ellipse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4" name="Text 31"/>
          <p:cNvSpPr/>
          <p:nvPr/>
        </p:nvSpPr>
        <p:spPr>
          <a:xfrm>
            <a:off x="941832" y="341985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23B5B"/>
                </a:solidFill>
              </a:rPr>
              <a:t>Mercado líder</a:t>
            </a:r>
            <a:endParaRPr lang="en-US" sz="1120" dirty="0"/>
          </a:p>
        </p:txBody>
      </p:sp>
      <p:sp>
        <p:nvSpPr>
          <p:cNvPr id="35" name="Text 32"/>
          <p:cNvSpPr/>
          <p:nvPr/>
        </p:nvSpPr>
        <p:spPr>
          <a:xfrm>
            <a:off x="649224" y="3749040"/>
            <a:ext cx="3236976" cy="950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3042"/>
                </a:solidFill>
              </a:rPr>
              <a:t>EE.UU. concentra US$168,745, equivalente al 25.6% del Valor FOB total.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187952" y="3310128"/>
            <a:ext cx="35295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7" name="Shape 34"/>
          <p:cNvSpPr/>
          <p:nvPr/>
        </p:nvSpPr>
        <p:spPr>
          <a:xfrm>
            <a:off x="4325112" y="3456432"/>
            <a:ext cx="219456" cy="219456"/>
          </a:xfrm>
          <a:prstGeom prst="ellipse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8" name="Text 35"/>
          <p:cNvSpPr/>
          <p:nvPr/>
        </p:nvSpPr>
        <p:spPr>
          <a:xfrm>
            <a:off x="4626864" y="341985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23B5B"/>
                </a:solidFill>
              </a:rPr>
              <a:t>Producto líder</a:t>
            </a:r>
            <a:endParaRPr lang="en-US" sz="1120" dirty="0"/>
          </a:p>
        </p:txBody>
      </p:sp>
      <p:sp>
        <p:nvSpPr>
          <p:cNvPr id="39" name="Text 36"/>
          <p:cNvSpPr/>
          <p:nvPr/>
        </p:nvSpPr>
        <p:spPr>
          <a:xfrm>
            <a:off x="4334256" y="3749040"/>
            <a:ext cx="3236976" cy="950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3042"/>
                </a:solidFill>
              </a:rPr>
              <a:t>El café especial genera US$62,832 de utilidad y presenta el margen promedio más alto: 36.9%.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7872984" y="3310128"/>
            <a:ext cx="3694176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1" name="Shape 38"/>
          <p:cNvSpPr/>
          <p:nvPr/>
        </p:nvSpPr>
        <p:spPr>
          <a:xfrm>
            <a:off x="8010144" y="3456432"/>
            <a:ext cx="219456" cy="219456"/>
          </a:xfrm>
          <a:prstGeom prst="ellipse">
            <a:avLst/>
          </a:prstGeom>
          <a:solidFill>
            <a:srgbClr val="E58A2D"/>
          </a:solidFill>
          <a:ln w="12700">
            <a:solidFill>
              <a:srgbClr val="E58A2D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2" name="Text 39"/>
          <p:cNvSpPr/>
          <p:nvPr/>
        </p:nvSpPr>
        <p:spPr>
          <a:xfrm>
            <a:off x="8311896" y="3419856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23B5B"/>
                </a:solidFill>
              </a:rPr>
              <a:t>Atención operativa</a:t>
            </a:r>
            <a:endParaRPr lang="en-US" sz="1120" dirty="0"/>
          </a:p>
        </p:txBody>
      </p:sp>
      <p:sp>
        <p:nvSpPr>
          <p:cNvPr id="43" name="Text 40"/>
          <p:cNvSpPr/>
          <p:nvPr/>
        </p:nvSpPr>
        <p:spPr>
          <a:xfrm>
            <a:off x="8019288" y="3749040"/>
            <a:ext cx="3401568" cy="950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3042"/>
                </a:solidFill>
              </a:rPr>
              <a:t>Quedan 15 operaciones pendientes; su seguimiento es la principal oportunidad inmediata de mejora.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02920" y="5230368"/>
            <a:ext cx="11064240" cy="694944"/>
          </a:xfrm>
          <a:prstGeom prst="roundRect">
            <a:avLst>
              <a:gd name="adj" fmla="val 5263"/>
            </a:avLst>
          </a:prstGeom>
          <a:solidFill>
            <a:srgbClr val="E9F7F6"/>
          </a:solidFill>
          <a:ln w="12700">
            <a:solidFill>
              <a:srgbClr val="C8E8E5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5" name="Text 42"/>
          <p:cNvSpPr/>
          <p:nvPr/>
        </p:nvSpPr>
        <p:spPr>
          <a:xfrm>
            <a:off x="777240" y="5440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B5B"/>
                </a:solidFill>
              </a:rPr>
              <a:t>La empresa presenta una operación rentable y diversificada. El reto principal es sostener el desempeño de los mercados líderes y convertir las operaciones pendientes en entregas efectivas.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02920" y="667512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FFFFFF"/>
                </a:solidFill>
              </a:rPr>
              <a:t>Fuente: Analisis_Comercio_Internacional_NicaExport.xlsx · Datos académicos 2026</a:t>
            </a:r>
            <a:endParaRPr lang="en-US" sz="76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675120"/>
            <a:ext cx="25603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Mercados de destino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652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87785"/>
                </a:solidFill>
              </a:rPr>
              <a:t>Valor FOB por país y concentración regional de las exportaciones.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09960" cy="0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pic>
        <p:nvPicPr>
          <p:cNvPr id="5" name="Image 0" descr="/mnt/data/8108dd6b-f3aa-4902-a5c8-5b700bcc9342.png"/>
          <p:cNvPicPr>
            <a:picLocks noChangeAspect="1"/>
          </p:cNvPicPr>
          <p:nvPr/>
        </p:nvPicPr>
        <p:blipFill>
          <a:blip r:embed="rId3">
            <a:alphaModFix amt="98000"/>
          </a:blip>
          <a:stretch>
            <a:fillRect/>
          </a:stretch>
        </p:blipFill>
        <p:spPr>
          <a:xfrm>
            <a:off x="11338560" y="182880"/>
            <a:ext cx="566928" cy="566928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/>
        </p:nvGraphicFramePr>
        <p:xfrm>
          <a:off x="502920" y="1335024"/>
          <a:ext cx="6172200" cy="4462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7022592" y="1371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B5B"/>
                </a:solidFill>
              </a:rPr>
              <a:t>Participación por región</a:t>
            </a:r>
            <a:endParaRPr lang="en-US" sz="15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903720" y="1737360"/>
          <a:ext cx="45720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ape 4"/>
          <p:cNvSpPr/>
          <p:nvPr/>
        </p:nvSpPr>
        <p:spPr>
          <a:xfrm>
            <a:off x="7022592" y="5074920"/>
            <a:ext cx="4315968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0" name="Shape 5"/>
          <p:cNvSpPr/>
          <p:nvPr/>
        </p:nvSpPr>
        <p:spPr>
          <a:xfrm>
            <a:off x="7159752" y="5221224"/>
            <a:ext cx="219456" cy="219456"/>
          </a:xfrm>
          <a:prstGeom prst="ellipse">
            <a:avLst/>
          </a:prstGeom>
          <a:solidFill>
            <a:srgbClr val="2E69B7"/>
          </a:solidFill>
          <a:ln w="12700">
            <a:solidFill>
              <a:srgbClr val="2E69B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1" name="Text 6"/>
          <p:cNvSpPr/>
          <p:nvPr/>
        </p:nvSpPr>
        <p:spPr>
          <a:xfrm>
            <a:off x="7461504" y="5184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23B5B"/>
                </a:solidFill>
              </a:rPr>
              <a:t>Hallazgo</a:t>
            </a:r>
            <a:endParaRPr lang="en-US" sz="1120" dirty="0"/>
          </a:p>
        </p:txBody>
      </p:sp>
      <p:sp>
        <p:nvSpPr>
          <p:cNvPr id="12" name="Text 7"/>
          <p:cNvSpPr/>
          <p:nvPr/>
        </p:nvSpPr>
        <p:spPr>
          <a:xfrm>
            <a:off x="7168896" y="5513832"/>
            <a:ext cx="40233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3042"/>
                </a:solidFill>
              </a:rPr>
              <a:t>Norteamérica lidera con US$289,058 (43.9% del FOB total), seguida por Centroamérica con US$232,879.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02920" y="667512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FFFFFF"/>
                </a:solidFill>
              </a:rPr>
              <a:t>Fuente: Analisis_Comercio_Internacional_NicaExport.xlsx · Datos académicos 2026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675120"/>
            <a:ext cx="25603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Productos y rentabilidad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652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87785"/>
                </a:solidFill>
              </a:rPr>
              <a:t>Utilidad generada, unidades exportadas y margen promedio por producto.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09960" cy="0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pic>
        <p:nvPicPr>
          <p:cNvPr id="5" name="Image 0" descr="/mnt/data/8108dd6b-f3aa-4902-a5c8-5b700bcc9342.png"/>
          <p:cNvPicPr>
            <a:picLocks noChangeAspect="1"/>
          </p:cNvPicPr>
          <p:nvPr/>
        </p:nvPicPr>
        <p:blipFill>
          <a:blip r:embed="rId3">
            <a:alphaModFix amt="98000"/>
          </a:blip>
          <a:stretch>
            <a:fillRect/>
          </a:stretch>
        </p:blipFill>
        <p:spPr>
          <a:xfrm>
            <a:off x="11338560" y="182880"/>
            <a:ext cx="566928" cy="566928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/>
        </p:nvGraphicFramePr>
        <p:xfrm>
          <a:off x="502920" y="1335024"/>
          <a:ext cx="60350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839712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B5B"/>
                </a:solidFill>
              </a:rPr>
              <a:t>Indicadores por producto</a:t>
            </a:r>
            <a:endParaRPr lang="en-US" sz="15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39712" y="1755648"/>
          <a:ext cx="4434840" cy="2907792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Producto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Unidades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Margen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Café especial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26,180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36.9%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Aceite de ajonjolí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11,110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30.4%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Miel natural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24,180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Cacao en grano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16,000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32.4%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Maní procesado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14,580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839712" y="1755648"/>
            <a:ext cx="4617720" cy="484632"/>
          </a:xfrm>
          <a:prstGeom prst="rect">
            <a:avLst/>
          </a:prstGeom>
          <a:solidFill>
            <a:srgbClr val="123B5B"/>
          </a:solidFill>
          <a:ln w="12700">
            <a:solidFill>
              <a:srgbClr val="123B5B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0" name="Text 5"/>
          <p:cNvSpPr/>
          <p:nvPr/>
        </p:nvSpPr>
        <p:spPr>
          <a:xfrm>
            <a:off x="6967728" y="19110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Producto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9464040" y="191109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Unidades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10497312" y="191109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Margen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6839712" y="5202936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4" name="Shape 9"/>
          <p:cNvSpPr/>
          <p:nvPr/>
        </p:nvSpPr>
        <p:spPr>
          <a:xfrm>
            <a:off x="6976872" y="5349240"/>
            <a:ext cx="219456" cy="219456"/>
          </a:xfrm>
          <a:prstGeom prst="ellipse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5" name="Text 10"/>
          <p:cNvSpPr/>
          <p:nvPr/>
        </p:nvSpPr>
        <p:spPr>
          <a:xfrm>
            <a:off x="7278624" y="5312664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23B5B"/>
                </a:solidFill>
              </a:rPr>
              <a:t>Conclusión</a:t>
            </a:r>
            <a:endParaRPr lang="en-US" sz="1120" dirty="0"/>
          </a:p>
        </p:txBody>
      </p:sp>
      <p:sp>
        <p:nvSpPr>
          <p:cNvPr id="16" name="Text 11"/>
          <p:cNvSpPr/>
          <p:nvPr/>
        </p:nvSpPr>
        <p:spPr>
          <a:xfrm>
            <a:off x="6986016" y="5641848"/>
            <a:ext cx="432511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3042"/>
                </a:solidFill>
              </a:rPr>
              <a:t>Café especial combina la mayor utilidad, el mayor volumen y el margen promedio más alto del portafolio.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502920" y="667512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FFFFFF"/>
                </a:solidFill>
              </a:rPr>
              <a:t>Fuente: Analisis_Comercio_Internacional_NicaExport.xlsx · Datos académicos 2026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675120"/>
            <a:ext cx="25603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Clientes internacionales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652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87785"/>
                </a:solidFill>
              </a:rPr>
              <a:t>Comparación del valor exportado y la utilidad generada por cliente.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09960" cy="0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pic>
        <p:nvPicPr>
          <p:cNvPr id="5" name="Image 0" descr="/mnt/data/8108dd6b-f3aa-4902-a5c8-5b700bcc9342.png"/>
          <p:cNvPicPr>
            <a:picLocks noChangeAspect="1"/>
          </p:cNvPicPr>
          <p:nvPr/>
        </p:nvPicPr>
        <p:blipFill>
          <a:blip r:embed="rId3">
            <a:alphaModFix amt="98000"/>
          </a:blip>
          <a:stretch>
            <a:fillRect/>
          </a:stretch>
        </p:blipFill>
        <p:spPr>
          <a:xfrm>
            <a:off x="11338560" y="182880"/>
            <a:ext cx="566928" cy="56692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26464"/>
          <a:ext cx="7086600" cy="41605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Cliente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País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Valor FOB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Utilidad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Foods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EE.UU.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US$168,745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US$55,601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Iberia Foods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España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US$136,328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US$43,648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Comercial Azteca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México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US$120,313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US$39,582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Comercial Maya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Guatemala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US$119,335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US$38,912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Distribuidora Tica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Costa Rica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US$113,544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dirty="0">
                          <a:solidFill>
                            <a:srgbClr val="1730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US$36,329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426464"/>
            <a:ext cx="7086600" cy="585216"/>
          </a:xfrm>
          <a:prstGeom prst="rect">
            <a:avLst/>
          </a:prstGeom>
          <a:solidFill>
            <a:srgbClr val="123B5B"/>
          </a:solidFill>
          <a:ln w="12700">
            <a:solidFill>
              <a:srgbClr val="123B5B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4"/>
          <p:cNvSpPr/>
          <p:nvPr/>
        </p:nvSpPr>
        <p:spPr>
          <a:xfrm>
            <a:off x="704088" y="1618488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Cliente</a:t>
            </a:r>
            <a:endParaRPr lang="en-US" sz="1020" dirty="0"/>
          </a:p>
        </p:txBody>
      </p:sp>
      <p:sp>
        <p:nvSpPr>
          <p:cNvPr id="9" name="Text 5"/>
          <p:cNvSpPr/>
          <p:nvPr/>
        </p:nvSpPr>
        <p:spPr>
          <a:xfrm>
            <a:off x="2834640" y="1618488"/>
            <a:ext cx="1143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País</a:t>
            </a:r>
            <a:endParaRPr lang="en-US" sz="1020" dirty="0"/>
          </a:p>
        </p:txBody>
      </p:sp>
      <p:sp>
        <p:nvSpPr>
          <p:cNvPr id="10" name="Text 6"/>
          <p:cNvSpPr/>
          <p:nvPr/>
        </p:nvSpPr>
        <p:spPr>
          <a:xfrm>
            <a:off x="4251960" y="16184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FFFFFF"/>
                </a:solidFill>
              </a:rPr>
              <a:t>Valor FOB</a:t>
            </a:r>
            <a:endParaRPr lang="en-US" sz="1020" dirty="0"/>
          </a:p>
        </p:txBody>
      </p:sp>
      <p:sp>
        <p:nvSpPr>
          <p:cNvPr id="11" name="Text 7"/>
          <p:cNvSpPr/>
          <p:nvPr/>
        </p:nvSpPr>
        <p:spPr>
          <a:xfrm>
            <a:off x="5879592" y="1618488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FFFFFF"/>
                </a:solidFill>
              </a:rPr>
              <a:t>Utilidad</a:t>
            </a:r>
            <a:endParaRPr lang="en-US" sz="1020" dirty="0"/>
          </a:p>
        </p:txBody>
      </p:sp>
      <p:sp>
        <p:nvSpPr>
          <p:cNvPr id="12" name="Shape 8"/>
          <p:cNvSpPr/>
          <p:nvPr/>
        </p:nvSpPr>
        <p:spPr>
          <a:xfrm>
            <a:off x="7955280" y="1536192"/>
            <a:ext cx="361188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3" name="Shape 9"/>
          <p:cNvSpPr/>
          <p:nvPr/>
        </p:nvSpPr>
        <p:spPr>
          <a:xfrm>
            <a:off x="8092440" y="1682496"/>
            <a:ext cx="219456" cy="219456"/>
          </a:xfrm>
          <a:prstGeom prst="ellipse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4" name="Text 10"/>
          <p:cNvSpPr/>
          <p:nvPr/>
        </p:nvSpPr>
        <p:spPr>
          <a:xfrm>
            <a:off x="8394192" y="164592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23B5B"/>
                </a:solidFill>
              </a:rPr>
              <a:t>Cliente líder</a:t>
            </a:r>
            <a:endParaRPr lang="en-US" sz="1120" dirty="0"/>
          </a:p>
        </p:txBody>
      </p:sp>
      <p:sp>
        <p:nvSpPr>
          <p:cNvPr id="15" name="Text 11"/>
          <p:cNvSpPr/>
          <p:nvPr/>
        </p:nvSpPr>
        <p:spPr>
          <a:xfrm>
            <a:off x="8101584" y="1975104"/>
            <a:ext cx="3319272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3042"/>
                </a:solidFill>
              </a:rPr>
              <a:t>Global Foods aporta US$168,745 de FOB y US$55,601 de utilidad.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955280" y="3072384"/>
            <a:ext cx="361188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7" name="Shape 13"/>
          <p:cNvSpPr/>
          <p:nvPr/>
        </p:nvSpPr>
        <p:spPr>
          <a:xfrm>
            <a:off x="8092440" y="3218688"/>
            <a:ext cx="219456" cy="219456"/>
          </a:xfrm>
          <a:prstGeom prst="ellipse">
            <a:avLst/>
          </a:prstGeom>
          <a:solidFill>
            <a:srgbClr val="2E69B7"/>
          </a:solidFill>
          <a:ln w="12700">
            <a:solidFill>
              <a:srgbClr val="2E69B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8" name="Text 14"/>
          <p:cNvSpPr/>
          <p:nvPr/>
        </p:nvSpPr>
        <p:spPr>
          <a:xfrm>
            <a:off x="8394192" y="3182112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23B5B"/>
                </a:solidFill>
              </a:rPr>
              <a:t>Distribución estable</a:t>
            </a:r>
            <a:endParaRPr lang="en-US" sz="1120" dirty="0"/>
          </a:p>
        </p:txBody>
      </p:sp>
      <p:sp>
        <p:nvSpPr>
          <p:cNvPr id="19" name="Text 15"/>
          <p:cNvSpPr/>
          <p:nvPr/>
        </p:nvSpPr>
        <p:spPr>
          <a:xfrm>
            <a:off x="8101584" y="3511296"/>
            <a:ext cx="3319272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3042"/>
                </a:solidFill>
              </a:rPr>
              <a:t>Cada cliente registra 20 operaciones, por lo que la diferencia responde al valor de las transacciones.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955280" y="4608576"/>
            <a:ext cx="361188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1" name="Shape 17"/>
          <p:cNvSpPr/>
          <p:nvPr/>
        </p:nvSpPr>
        <p:spPr>
          <a:xfrm>
            <a:off x="8092440" y="4754880"/>
            <a:ext cx="219456" cy="219456"/>
          </a:xfrm>
          <a:prstGeom prst="ellipse">
            <a:avLst/>
          </a:prstGeom>
          <a:solidFill>
            <a:srgbClr val="D9A735"/>
          </a:solidFill>
          <a:ln w="12700">
            <a:solidFill>
              <a:srgbClr val="D9A735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2" name="Text 18"/>
          <p:cNvSpPr/>
          <p:nvPr/>
        </p:nvSpPr>
        <p:spPr>
          <a:xfrm>
            <a:off x="8394192" y="4718304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23B5B"/>
                </a:solidFill>
              </a:rPr>
              <a:t>Lectura comercial</a:t>
            </a:r>
            <a:endParaRPr lang="en-US" sz="1120" dirty="0"/>
          </a:p>
        </p:txBody>
      </p:sp>
      <p:sp>
        <p:nvSpPr>
          <p:cNvPr id="23" name="Text 19"/>
          <p:cNvSpPr/>
          <p:nvPr/>
        </p:nvSpPr>
        <p:spPr>
          <a:xfrm>
            <a:off x="8101584" y="5047488"/>
            <a:ext cx="331927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3042"/>
                </a:solidFill>
              </a:rPr>
              <a:t>La cartera mantiene presencia equilibrada en cinco mercados, sin concentración extrema en un solo cliente.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02920" y="667512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FFFFFF"/>
                </a:solidFill>
              </a:rPr>
              <a:t>Fuente: Analisis_Comercio_Internacional_NicaExport.xlsx · Datos académicos 2026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675120"/>
            <a:ext cx="25603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y prioridad de las operaciones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652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87785"/>
                </a:solidFill>
              </a:rPr>
              <a:t>Seguimiento del cumplimiento de pedidos y nivel de atención comercial.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09960" cy="0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pic>
        <p:nvPicPr>
          <p:cNvPr id="5" name="Image 0" descr="/mnt/data/8108dd6b-f3aa-4902-a5c8-5b700bcc9342.png"/>
          <p:cNvPicPr>
            <a:picLocks noChangeAspect="1"/>
          </p:cNvPicPr>
          <p:nvPr/>
        </p:nvPicPr>
        <p:blipFill>
          <a:blip r:embed="rId3">
            <a:alphaModFix amt="98000"/>
          </a:blip>
          <a:stretch>
            <a:fillRect/>
          </a:stretch>
        </p:blipFill>
        <p:spPr>
          <a:xfrm>
            <a:off x="11338560" y="18288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371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B5B"/>
                </a:solidFill>
              </a:rPr>
              <a:t>Estado de las operaciones</a:t>
            </a:r>
            <a:endParaRPr lang="en-US" sz="15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691640"/>
          <a:ext cx="50749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12648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B5B"/>
                </a:solidFill>
              </a:rPr>
              <a:t>Prioridad comercial</a:t>
            </a:r>
            <a:endParaRPr lang="en-US" sz="15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035040" y="1783080"/>
          <a:ext cx="53035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6126480" y="5193792"/>
            <a:ext cx="5120640" cy="658368"/>
          </a:xfrm>
          <a:prstGeom prst="roundRect">
            <a:avLst>
              <a:gd name="adj" fmla="val 5556"/>
            </a:avLst>
          </a:prstGeom>
          <a:solidFill>
            <a:srgbClr val="E9F7F6"/>
          </a:solidFill>
          <a:ln w="12700">
            <a:solidFill>
              <a:srgbClr val="C8E8E5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1" name="Text 6"/>
          <p:cNvSpPr/>
          <p:nvPr/>
        </p:nvSpPr>
        <p:spPr>
          <a:xfrm>
            <a:off x="6382512" y="539496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B5B"/>
                </a:solidFill>
              </a:rPr>
              <a:t>94% de las operaciones se clasifica con prioridad alta o media. Las 15 pendientes requieren seguimiento para evitar retrasos y pérdida de valor.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02920" y="667512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FFFFFF"/>
                </a:solidFill>
              </a:rPr>
              <a:t>Fuente: Analisis_Comercio_Internacional_NicaExport.xlsx · Datos académicos 2026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675120"/>
            <a:ext cx="25603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y recomendaciones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652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87785"/>
                </a:solidFill>
              </a:rPr>
              <a:t>Síntesis de los resultados obtenidos a partir de la información analizada.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09960" cy="0"/>
          </a:xfrm>
          <a:prstGeom prst="line">
            <a:avLst/>
          </a:prstGeom>
          <a:noFill/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pic>
        <p:nvPicPr>
          <p:cNvPr id="5" name="Image 0" descr="/mnt/data/8108dd6b-f3aa-4902-a5c8-5b700bcc9342.png"/>
          <p:cNvPicPr>
            <a:picLocks noChangeAspect="1"/>
          </p:cNvPicPr>
          <p:nvPr/>
        </p:nvPicPr>
        <p:blipFill>
          <a:blip r:embed="rId3">
            <a:alphaModFix amt="98000"/>
          </a:blip>
          <a:stretch>
            <a:fillRect/>
          </a:stretch>
        </p:blipFill>
        <p:spPr>
          <a:xfrm>
            <a:off x="11338560" y="18288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353312"/>
            <a:ext cx="52852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4"/>
          <p:cNvSpPr/>
          <p:nvPr/>
        </p:nvSpPr>
        <p:spPr>
          <a:xfrm>
            <a:off x="768096" y="1554480"/>
            <a:ext cx="438912" cy="438912"/>
          </a:xfrm>
          <a:prstGeom prst="ellipse">
            <a:avLst/>
          </a:prstGeom>
          <a:solidFill>
            <a:srgbClr val="00A7A5"/>
          </a:solidFill>
          <a:ln w="12700">
            <a:solidFill>
              <a:srgbClr val="00A7A5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5"/>
          <p:cNvSpPr/>
          <p:nvPr/>
        </p:nvSpPr>
        <p:spPr>
          <a:xfrm>
            <a:off x="768096" y="166420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335024" y="1536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23B5B"/>
                </a:solidFill>
              </a:rPr>
              <a:t>Desempeño sólido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1335024" y="190195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73042"/>
                </a:solidFill>
              </a:rPr>
              <a:t>La base registra US$658,265 de Valor FOB y US$214,072 de utilidad, evidenciando un comportamiento comercial favorable.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144768" y="1353312"/>
            <a:ext cx="52852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2" name="Shape 9"/>
          <p:cNvSpPr/>
          <p:nvPr/>
        </p:nvSpPr>
        <p:spPr>
          <a:xfrm>
            <a:off x="6345936" y="1554480"/>
            <a:ext cx="438912" cy="438912"/>
          </a:xfrm>
          <a:prstGeom prst="ellipse">
            <a:avLst/>
          </a:prstGeom>
          <a:solidFill>
            <a:srgbClr val="2E69B7"/>
          </a:solidFill>
          <a:ln w="12700">
            <a:solidFill>
              <a:srgbClr val="2E69B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3" name="Text 10"/>
          <p:cNvSpPr/>
          <p:nvPr/>
        </p:nvSpPr>
        <p:spPr>
          <a:xfrm>
            <a:off x="6345936" y="166420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12864" y="1536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23B5B"/>
                </a:solidFill>
              </a:rPr>
              <a:t>Mercado principal</a:t>
            </a:r>
            <a:endParaRPr lang="en-US" sz="1280" dirty="0"/>
          </a:p>
        </p:txBody>
      </p:sp>
      <p:sp>
        <p:nvSpPr>
          <p:cNvPr id="15" name="Text 12"/>
          <p:cNvSpPr/>
          <p:nvPr/>
        </p:nvSpPr>
        <p:spPr>
          <a:xfrm>
            <a:off x="6912864" y="190195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73042"/>
                </a:solidFill>
              </a:rPr>
              <a:t>EE.UU. lidera con US$168,745; por región, Norteamérica concentra 43.9% del Valor FOB total.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566928" y="3127248"/>
            <a:ext cx="52852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7" name="Shape 14"/>
          <p:cNvSpPr/>
          <p:nvPr/>
        </p:nvSpPr>
        <p:spPr>
          <a:xfrm>
            <a:off x="768096" y="3328416"/>
            <a:ext cx="438912" cy="438912"/>
          </a:xfrm>
          <a:prstGeom prst="ellipse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8" name="Text 15"/>
          <p:cNvSpPr/>
          <p:nvPr/>
        </p:nvSpPr>
        <p:spPr>
          <a:xfrm>
            <a:off x="768096" y="34381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335024" y="3310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23B5B"/>
                </a:solidFill>
              </a:rPr>
              <a:t>Producto estratégico</a:t>
            </a:r>
            <a:endParaRPr lang="en-US" sz="1280" dirty="0"/>
          </a:p>
        </p:txBody>
      </p:sp>
      <p:sp>
        <p:nvSpPr>
          <p:cNvPr id="20" name="Text 17"/>
          <p:cNvSpPr/>
          <p:nvPr/>
        </p:nvSpPr>
        <p:spPr>
          <a:xfrm>
            <a:off x="1335024" y="367588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73042"/>
                </a:solidFill>
              </a:rPr>
              <a:t>El café especial genera la mayor utilidad: US$62,832, con un margen promedio de 36.9%.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6144768" y="3127248"/>
            <a:ext cx="528523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2" name="Shape 19"/>
          <p:cNvSpPr/>
          <p:nvPr/>
        </p:nvSpPr>
        <p:spPr>
          <a:xfrm>
            <a:off x="6345936" y="3328416"/>
            <a:ext cx="438912" cy="438912"/>
          </a:xfrm>
          <a:prstGeom prst="ellipse">
            <a:avLst/>
          </a:prstGeom>
          <a:solidFill>
            <a:srgbClr val="E58A2D"/>
          </a:solidFill>
          <a:ln w="12700">
            <a:solidFill>
              <a:srgbClr val="E58A2D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3" name="Text 20"/>
          <p:cNvSpPr/>
          <p:nvPr/>
        </p:nvSpPr>
        <p:spPr>
          <a:xfrm>
            <a:off x="6345936" y="34381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12864" y="3310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23B5B"/>
                </a:solidFill>
              </a:rPr>
              <a:t>Seguimiento necesario</a:t>
            </a:r>
            <a:endParaRPr lang="en-US" sz="1280" dirty="0"/>
          </a:p>
        </p:txBody>
      </p:sp>
      <p:sp>
        <p:nvSpPr>
          <p:cNvPr id="25" name="Text 22"/>
          <p:cNvSpPr/>
          <p:nvPr/>
        </p:nvSpPr>
        <p:spPr>
          <a:xfrm>
            <a:off x="6912864" y="367588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73042"/>
                </a:solidFill>
              </a:rPr>
              <a:t>El 15% de las operaciones permanece pendiente; su control debe priorizarse para mejorar el cumplimiento.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566928" y="5047488"/>
            <a:ext cx="10863072" cy="804672"/>
          </a:xfrm>
          <a:prstGeom prst="roundRect">
            <a:avLst>
              <a:gd name="adj" fmla="val 5682"/>
            </a:avLst>
          </a:prstGeom>
          <a:solidFill>
            <a:srgbClr val="123B5B"/>
          </a:solidFill>
          <a:ln w="12700">
            <a:solidFill>
              <a:srgbClr val="123B5B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7" name="Text 24"/>
          <p:cNvSpPr/>
          <p:nvPr/>
        </p:nvSpPr>
        <p:spPr>
          <a:xfrm>
            <a:off x="841248" y="5257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6B7B1"/>
                </a:solidFill>
              </a:rPr>
              <a:t>Recomendación general</a:t>
            </a:r>
            <a:endParaRPr lang="en-US" sz="1180" dirty="0"/>
          </a:p>
        </p:txBody>
      </p:sp>
      <p:sp>
        <p:nvSpPr>
          <p:cNvPr id="28" name="Text 25"/>
          <p:cNvSpPr/>
          <p:nvPr/>
        </p:nvSpPr>
        <p:spPr>
          <a:xfrm>
            <a:off x="2852928" y="5193792"/>
            <a:ext cx="8211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</a:rPr>
              <a:t>Mantener la diversificación por mercados y productos, dar seguimiento a las operaciones pendientes y utilizar los indicadores del Excel como base para futuras decisiones comerciales.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502920" y="667512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FFFFFF"/>
                </a:solidFill>
              </a:rPr>
              <a:t>Universidad Americana (UAM) · Tecnologías de Gestión de Información · Septiembre 2026</a:t>
            </a:r>
            <a:endParaRPr lang="en-US" sz="76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4592" y="6675120"/>
            <a:ext cx="256032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</Words>
  <Application>Microsoft Office PowerPoint</Application>
  <PresentationFormat>Panorámica</PresentationFormat>
  <Paragraphs>183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Americana (UAM)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NicaExport Trading - Análisis de información empresarial</dc:title>
  <dc:subject>Tecnologías de Gestión de Información - NicaExport Trading</dc:subject>
  <dc:creator>Ossma</dc:creator>
  <cp:lastModifiedBy>Alumno JJ</cp:lastModifiedBy>
  <cp:revision>2</cp:revision>
  <dcterms:created xsi:type="dcterms:W3CDTF">2026-09-11T18:01:24Z</dcterms:created>
  <dcterms:modified xsi:type="dcterms:W3CDTF">2026-09-11T18:03:20Z</dcterms:modified>
</cp:coreProperties>
</file>